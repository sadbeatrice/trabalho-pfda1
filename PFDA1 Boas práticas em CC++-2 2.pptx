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322dbd944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322dbd944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2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4" name="Google Shape;24;p2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" name="Google Shape;25;p2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" name="Google Shape;26;p2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803"/>
              </a:schemeClr>
            </a:solidFill>
            <a:ln>
              <a:noFill/>
            </a:ln>
          </p:spPr>
        </p:sp>
        <p:sp>
          <p:nvSpPr>
            <p:cNvPr id="27" name="Google Shape;27;p2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28" name="Google Shape;28;p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803"/>
              </a:srgbClr>
            </a:solidFill>
            <a:ln>
              <a:noFill/>
            </a:ln>
          </p:spPr>
        </p:sp>
        <p:sp>
          <p:nvSpPr>
            <p:cNvPr id="30" name="Google Shape;30;p2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803"/>
              </a:srgbClr>
            </a:solidFill>
            <a:ln>
              <a:noFill/>
            </a:ln>
          </p:spPr>
        </p:sp>
        <p:sp>
          <p:nvSpPr>
            <p:cNvPr id="31" name="Google Shape;31;p2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705"/>
              </a:schemeClr>
            </a:solidFill>
            <a:ln>
              <a:noFill/>
            </a:ln>
          </p:spPr>
        </p:sp>
        <p:sp>
          <p:nvSpPr>
            <p:cNvPr id="32" name="Google Shape;32;p2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507067" y="2404534"/>
            <a:ext cx="7766936" cy="16463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507067" y="4050833"/>
            <a:ext cx="7766936" cy="1096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7F7F7F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42" name="Google Shape;42;p3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"/>
          <p:cNvSpPr txBox="1"/>
          <p:nvPr>
            <p:ph type="title"/>
          </p:nvPr>
        </p:nvSpPr>
        <p:spPr>
          <a:xfrm>
            <a:off x="677335" y="2700867"/>
            <a:ext cx="8596668" cy="1826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" type="body"/>
          </p:nvPr>
        </p:nvSpPr>
        <p:spPr>
          <a:xfrm>
            <a:off x="677335" y="4527448"/>
            <a:ext cx="859666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8" name="Google Shape;48;p4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677334" y="2160589"/>
            <a:ext cx="4184035" cy="3880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5089970" y="2160589"/>
            <a:ext cx="418403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"/>
          <p:cNvSpPr txBox="1"/>
          <p:nvPr>
            <p:ph idx="1" type="body"/>
          </p:nvPr>
        </p:nvSpPr>
        <p:spPr>
          <a:xfrm>
            <a:off x="675745" y="2160983"/>
            <a:ext cx="418562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61" name="Google Shape;61;p6"/>
          <p:cNvSpPr txBox="1"/>
          <p:nvPr>
            <p:ph idx="2" type="body"/>
          </p:nvPr>
        </p:nvSpPr>
        <p:spPr>
          <a:xfrm>
            <a:off x="675745" y="2737245"/>
            <a:ext cx="4185623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2" name="Google Shape;62;p6"/>
          <p:cNvSpPr txBox="1"/>
          <p:nvPr>
            <p:ph idx="3" type="body"/>
          </p:nvPr>
        </p:nvSpPr>
        <p:spPr>
          <a:xfrm>
            <a:off x="5088383" y="2160983"/>
            <a:ext cx="418561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63" name="Google Shape;63;p6"/>
          <p:cNvSpPr txBox="1"/>
          <p:nvPr>
            <p:ph idx="4" type="body"/>
          </p:nvPr>
        </p:nvSpPr>
        <p:spPr>
          <a:xfrm>
            <a:off x="5088384" y="2737245"/>
            <a:ext cx="4185617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4" name="Google Shape;64;p6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6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7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8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8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 txBox="1"/>
          <p:nvPr>
            <p:ph type="title"/>
          </p:nvPr>
        </p:nvSpPr>
        <p:spPr>
          <a:xfrm>
            <a:off x="677334" y="1498604"/>
            <a:ext cx="3854528" cy="12784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rebuchet MS"/>
              <a:buNone/>
              <a:defRPr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9"/>
          <p:cNvSpPr txBox="1"/>
          <p:nvPr>
            <p:ph idx="1" type="body"/>
          </p:nvPr>
        </p:nvSpPr>
        <p:spPr>
          <a:xfrm>
            <a:off x="4760461" y="514924"/>
            <a:ext cx="4513541" cy="5526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79" name="Google Shape;79;p9"/>
          <p:cNvSpPr txBox="1"/>
          <p:nvPr>
            <p:ph idx="2" type="body"/>
          </p:nvPr>
        </p:nvSpPr>
        <p:spPr>
          <a:xfrm>
            <a:off x="677334" y="2777069"/>
            <a:ext cx="3854528" cy="2584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9pPr>
          </a:lstStyle>
          <a:p/>
        </p:txBody>
      </p:sp>
      <p:sp>
        <p:nvSpPr>
          <p:cNvPr id="80" name="Google Shape;80;p9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9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"/>
          <p:cNvSpPr txBox="1"/>
          <p:nvPr>
            <p:ph type="title"/>
          </p:nvPr>
        </p:nvSpPr>
        <p:spPr>
          <a:xfrm>
            <a:off x="677334" y="4800600"/>
            <a:ext cx="859666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0"/>
          <p:cNvSpPr/>
          <p:nvPr>
            <p:ph idx="2" type="pic"/>
          </p:nvPr>
        </p:nvSpPr>
        <p:spPr>
          <a:xfrm>
            <a:off x="677334" y="609600"/>
            <a:ext cx="8596668" cy="3845718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10"/>
          <p:cNvSpPr txBox="1"/>
          <p:nvPr>
            <p:ph idx="1" type="body"/>
          </p:nvPr>
        </p:nvSpPr>
        <p:spPr>
          <a:xfrm>
            <a:off x="677334" y="5367338"/>
            <a:ext cx="8596667" cy="674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87" name="Google Shape;87;p10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0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0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Legenda">
  <p:cSld name="Título e Legenda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"/>
          <p:cNvSpPr txBox="1"/>
          <p:nvPr>
            <p:ph type="title"/>
          </p:nvPr>
        </p:nvSpPr>
        <p:spPr>
          <a:xfrm>
            <a:off x="677335" y="609600"/>
            <a:ext cx="8596668" cy="34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1"/>
          <p:cNvSpPr txBox="1"/>
          <p:nvPr>
            <p:ph idx="1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p11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1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ção com Legenda">
  <p:cSld name="Citação com Legenda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2"/>
          <p:cNvSpPr txBox="1"/>
          <p:nvPr>
            <p:ph idx="1" type="body"/>
          </p:nvPr>
        </p:nvSpPr>
        <p:spPr>
          <a:xfrm>
            <a:off x="1366139" y="3632200"/>
            <a:ext cx="722452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99" name="Google Shape;99;p12"/>
          <p:cNvSpPr txBox="1"/>
          <p:nvPr>
            <p:ph idx="2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0" name="Google Shape;100;p12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2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2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3" name="Google Shape;103;p12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04" name="Google Shape;104;p12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i="0" sz="1800" u="none" cap="none" strike="noStrike">
              <a:solidFill>
                <a:srgbClr val="BFE47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tão de Nome">
  <p:cSld name="Cartão de Nome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/>
          <p:nvPr>
            <p:ph type="title"/>
          </p:nvPr>
        </p:nvSpPr>
        <p:spPr>
          <a:xfrm>
            <a:off x="677335" y="1931988"/>
            <a:ext cx="8596668" cy="25954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3"/>
          <p:cNvSpPr txBox="1"/>
          <p:nvPr>
            <p:ph idx="1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8" name="Google Shape;108;p13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r o Cartão de Nome">
  <p:cSld name="Citar o Cartão de Nome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idx="2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5" name="Google Shape;115;p14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4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4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dadeiro ou Falso">
  <p:cSld name="Verdadeiro ou Falso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/>
          <p:cNvSpPr txBox="1"/>
          <p:nvPr>
            <p:ph type="title"/>
          </p:nvPr>
        </p:nvSpPr>
        <p:spPr>
          <a:xfrm>
            <a:off x="685799" y="609600"/>
            <a:ext cx="8588203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5"/>
          <p:cNvSpPr txBox="1"/>
          <p:nvPr>
            <p:ph idx="1" type="body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3" name="Google Shape;123;p15"/>
          <p:cNvSpPr txBox="1"/>
          <p:nvPr>
            <p:ph idx="2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15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5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5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6"/>
          <p:cNvSpPr txBox="1"/>
          <p:nvPr>
            <p:ph idx="1" type="body"/>
          </p:nvPr>
        </p:nvSpPr>
        <p:spPr>
          <a:xfrm rot="5400000">
            <a:off x="3035281" y="-197358"/>
            <a:ext cx="3880773" cy="8596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0" name="Google Shape;130;p16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6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6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 txBox="1"/>
          <p:nvPr>
            <p:ph type="title"/>
          </p:nvPr>
        </p:nvSpPr>
        <p:spPr>
          <a:xfrm rot="5400000">
            <a:off x="5994319" y="2582953"/>
            <a:ext cx="5251451" cy="13047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7"/>
          <p:cNvSpPr txBox="1"/>
          <p:nvPr>
            <p:ph idx="1" type="body"/>
          </p:nvPr>
        </p:nvSpPr>
        <p:spPr>
          <a:xfrm rot="5400000">
            <a:off x="1581685" y="-294750"/>
            <a:ext cx="5251450" cy="706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6" name="Google Shape;136;p17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7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7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7" name="Google Shape;7;p1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" name="Google Shape;8;p1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" name="Google Shape;9;p1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803"/>
              </a:schemeClr>
            </a:solidFill>
            <a:ln>
              <a:noFill/>
            </a:ln>
          </p:spPr>
        </p:sp>
        <p:sp>
          <p:nvSpPr>
            <p:cNvPr id="10" name="Google Shape;10;p1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11" name="Google Shape;11;p1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803"/>
              </a:srgbClr>
            </a:solidFill>
            <a:ln>
              <a:noFill/>
            </a:ln>
          </p:spPr>
        </p:sp>
        <p:sp>
          <p:nvSpPr>
            <p:cNvPr id="13" name="Google Shape;13;p1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803"/>
              </a:srgbClr>
            </a:solidFill>
            <a:ln>
              <a:noFill/>
            </a:ln>
          </p:spPr>
        </p:sp>
        <p:sp>
          <p:nvSpPr>
            <p:cNvPr id="14" name="Google Shape;14;p1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705"/>
              </a:schemeClr>
            </a:solidFill>
            <a:ln>
              <a:noFill/>
            </a:ln>
          </p:spPr>
        </p:sp>
        <p:sp>
          <p:nvSpPr>
            <p:cNvPr id="15" name="Google Shape;15;p1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8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" name="Google Shape;17;p1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" name="Google Shape;18;p1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0988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99719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8956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8956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89559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89559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9" name="Google Shape;19;p1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0" name="Google Shape;20;p1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1" name="Google Shape;21;p1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/>
          <p:nvPr>
            <p:ph type="ctrTitle"/>
          </p:nvPr>
        </p:nvSpPr>
        <p:spPr>
          <a:xfrm>
            <a:off x="1507067" y="2404534"/>
            <a:ext cx="7766936" cy="16463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imes New Roman"/>
              <a:buNone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Boas práticas em C/C++</a:t>
            </a:r>
            <a:endParaRPr/>
          </a:p>
        </p:txBody>
      </p:sp>
      <p:sp>
        <p:nvSpPr>
          <p:cNvPr id="144" name="Google Shape;144;p18"/>
          <p:cNvSpPr txBox="1"/>
          <p:nvPr>
            <p:ph idx="1" type="subTitle"/>
          </p:nvPr>
        </p:nvSpPr>
        <p:spPr>
          <a:xfrm>
            <a:off x="1507067" y="4050833"/>
            <a:ext cx="7766936" cy="1096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 sz="2000">
                <a:latin typeface="Times New Roman"/>
                <a:ea typeface="Times New Roman"/>
                <a:cs typeface="Times New Roman"/>
                <a:sym typeface="Times New Roman"/>
              </a:rPr>
              <a:t>Mathias Lucena Francesquini</a:t>
            </a:r>
            <a:endParaRPr/>
          </a:p>
          <a:p>
            <a:pPr indent="0" lvl="0" marL="0" rtl="0" algn="r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pt-BR" sz="2000">
                <a:latin typeface="Times New Roman"/>
                <a:ea typeface="Times New Roman"/>
                <a:cs typeface="Times New Roman"/>
                <a:sym typeface="Times New Roman"/>
              </a:rPr>
              <a:t>Igor Franco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imes New Roman"/>
              <a:buNone/>
            </a:pPr>
            <a:r>
              <a:rPr lang="pt-BR" sz="5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150" name="Google Shape;150;p19"/>
          <p:cNvSpPr txBox="1"/>
          <p:nvPr>
            <p:ph idx="1" type="body"/>
          </p:nvPr>
        </p:nvSpPr>
        <p:spPr>
          <a:xfrm>
            <a:off x="677334" y="1695368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pt-BR" sz="2000">
                <a:latin typeface="Times New Roman"/>
                <a:ea typeface="Times New Roman"/>
                <a:cs typeface="Times New Roman"/>
                <a:sym typeface="Times New Roman"/>
              </a:rPr>
              <a:t>C é uma linguagem de programação de alto nível com as seguintes características: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pt-BR" sz="2000">
                <a:latin typeface="Times New Roman"/>
                <a:ea typeface="Times New Roman"/>
                <a:cs typeface="Times New Roman"/>
                <a:sym typeface="Times New Roman"/>
              </a:rPr>
              <a:t>Alto nível (Mais próxima à nossa língua, que da linguagem de maquinas)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pt-BR" sz="2000">
                <a:latin typeface="Times New Roman"/>
                <a:ea typeface="Times New Roman"/>
                <a:cs typeface="Times New Roman"/>
                <a:sym typeface="Times New Roman"/>
              </a:rPr>
              <a:t>Compilada (Executada diretamente por um sistema operacional ou processador, após ser traduzida por um compilador)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pt-BR" sz="2000">
                <a:latin typeface="Times New Roman"/>
                <a:ea typeface="Times New Roman"/>
                <a:cs typeface="Times New Roman"/>
                <a:sym typeface="Times New Roman"/>
              </a:rPr>
              <a:t>Estruturada (</a:t>
            </a:r>
            <a:r>
              <a:rPr lang="pt-BR" sz="2000">
                <a:solidFill>
                  <a:srgbClr val="1D21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Tarefas são executadas em ordem, uma após a outra, com estruturas de decisão e repetição, como if e for)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pt-BR" sz="2000">
                <a:solidFill>
                  <a:srgbClr val="1D21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Imperativa (comandos e ações que expressam ordens)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pt-BR" sz="2000">
                <a:solidFill>
                  <a:srgbClr val="1D21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Procedural (Que pode ser fragmentada em funções)</a:t>
            </a:r>
            <a:endParaRPr/>
          </a:p>
          <a:p>
            <a:pPr indent="-204469" lvl="1" marL="742950" rtl="0" algn="l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imes New Roman"/>
              <a:buNone/>
            </a:pPr>
            <a:r>
              <a:rPr lang="pt-BR" sz="5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156" name="Google Shape;156;p20"/>
          <p:cNvSpPr txBox="1"/>
          <p:nvPr>
            <p:ph idx="1" type="body"/>
          </p:nvPr>
        </p:nvSpPr>
        <p:spPr>
          <a:xfrm>
            <a:off x="677334" y="1695368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pt-BR" sz="2000">
                <a:latin typeface="Times New Roman"/>
                <a:ea typeface="Times New Roman"/>
                <a:cs typeface="Times New Roman"/>
                <a:sym typeface="Times New Roman"/>
              </a:rPr>
              <a:t>Começou a ser desenvolvida entre 1969 e 1973 e tornou-se uma das linguagens de programação mais populares.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pt-BR" sz="2000">
                <a:latin typeface="Times New Roman"/>
                <a:ea typeface="Times New Roman"/>
                <a:cs typeface="Times New Roman"/>
                <a:sym typeface="Times New Roman"/>
              </a:rPr>
              <a:t>Existem poucas arquiteturas que não existem compiladores para C, já foi utilizada em praticamente todos os tipos de hardware e software.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pt-BR" sz="2000">
                <a:latin typeface="Times New Roman"/>
                <a:ea typeface="Times New Roman"/>
                <a:cs typeface="Times New Roman"/>
                <a:sym typeface="Times New Roman"/>
              </a:rPr>
              <a:t>A linguagem C pode ser encontrada em jogos, editores de imagem e vídeo, robôs, sistemas de automação, e muitos sistemas operacionais são programados parcialmente em C, como Windows e Linux.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1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imes New Roman"/>
              <a:buNone/>
            </a:pPr>
            <a:r>
              <a:rPr lang="pt-BR" sz="5400">
                <a:latin typeface="Times New Roman"/>
                <a:ea typeface="Times New Roman"/>
                <a:cs typeface="Times New Roman"/>
                <a:sym typeface="Times New Roman"/>
              </a:rPr>
              <a:t>C++</a:t>
            </a:r>
            <a:endParaRPr/>
          </a:p>
        </p:txBody>
      </p:sp>
      <p:sp>
        <p:nvSpPr>
          <p:cNvPr id="162" name="Google Shape;162;p21"/>
          <p:cNvSpPr txBox="1"/>
          <p:nvPr>
            <p:ph idx="1" type="body"/>
          </p:nvPr>
        </p:nvSpPr>
        <p:spPr>
          <a:xfrm>
            <a:off x="677334" y="1695368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pt-BR" sz="2000">
                <a:latin typeface="Times New Roman"/>
                <a:ea typeface="Times New Roman"/>
                <a:cs typeface="Times New Roman"/>
                <a:sym typeface="Times New Roman"/>
              </a:rPr>
              <a:t>C++ é uma linguagem de programação criada em 1979 como uma extensão da linguagem C.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pt-BR" sz="2000">
                <a:latin typeface="Times New Roman"/>
                <a:ea typeface="Times New Roman"/>
                <a:cs typeface="Times New Roman"/>
                <a:sym typeface="Times New Roman"/>
              </a:rPr>
              <a:t>C++ é um superset de C, ou seja, a linguagem C++ tem todos os recursos e funcionalidades do C., logo um programa em C pode facilmente ser migrado para C++.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pt-BR" sz="2000">
                <a:latin typeface="Times New Roman"/>
                <a:ea typeface="Times New Roman"/>
                <a:cs typeface="Times New Roman"/>
                <a:sym typeface="Times New Roman"/>
              </a:rPr>
              <a:t>A principal diferença da linguagem C++ para C, é que o C++ é considerado multi-paradigma, podendo programar tanto de forma orientada a objetos, quanto de forma procedural.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imes New Roman"/>
              <a:buNone/>
            </a:pPr>
            <a:r>
              <a:rPr lang="pt-BR" sz="5400">
                <a:latin typeface="Times New Roman"/>
                <a:ea typeface="Times New Roman"/>
                <a:cs typeface="Times New Roman"/>
                <a:sym typeface="Times New Roman"/>
              </a:rPr>
              <a:t>O que significa “++”?</a:t>
            </a:r>
            <a:endParaRPr/>
          </a:p>
        </p:txBody>
      </p:sp>
      <p:sp>
        <p:nvSpPr>
          <p:cNvPr id="168" name="Google Shape;168;p22"/>
          <p:cNvSpPr txBox="1"/>
          <p:nvPr>
            <p:ph idx="1" type="body"/>
          </p:nvPr>
        </p:nvSpPr>
        <p:spPr>
          <a:xfrm>
            <a:off x="677334" y="1695368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pt-BR" sz="2000">
                <a:latin typeface="Times New Roman"/>
                <a:ea typeface="Times New Roman"/>
                <a:cs typeface="Times New Roman"/>
                <a:sym typeface="Times New Roman"/>
              </a:rPr>
              <a:t>O “++” pode ser traduzido como “incremento”. Em síntese, traduz como um acréscimo, um “algo a mais” em comparação com o C.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3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imes New Roman"/>
              <a:buNone/>
            </a:pPr>
            <a:r>
              <a:rPr lang="pt-BR" sz="5400">
                <a:latin typeface="Times New Roman"/>
                <a:ea typeface="Times New Roman"/>
                <a:cs typeface="Times New Roman"/>
                <a:sym typeface="Times New Roman"/>
              </a:rPr>
              <a:t>C++</a:t>
            </a:r>
            <a:endParaRPr/>
          </a:p>
        </p:txBody>
      </p:sp>
      <p:sp>
        <p:nvSpPr>
          <p:cNvPr id="174" name="Google Shape;174;p23"/>
          <p:cNvSpPr txBox="1"/>
          <p:nvPr>
            <p:ph idx="1" type="body"/>
          </p:nvPr>
        </p:nvSpPr>
        <p:spPr>
          <a:xfrm>
            <a:off x="677334" y="1695368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pt-BR" sz="2000">
                <a:latin typeface="Times New Roman"/>
                <a:ea typeface="Times New Roman"/>
                <a:cs typeface="Times New Roman"/>
                <a:sym typeface="Times New Roman"/>
              </a:rPr>
              <a:t>C++ também pode ter um uso bem generalizado, visto que quase todos os programas em C podem também ser migrados para o C++.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pt-BR" sz="2000">
                <a:latin typeface="Times New Roman"/>
                <a:ea typeface="Times New Roman"/>
                <a:cs typeface="Times New Roman"/>
                <a:sym typeface="Times New Roman"/>
              </a:rPr>
              <a:t>Podemos encontrar C++ no mercado financeiro, sistemas operacionais, jogos, editores de imagens, dispositivos embarcados, aplicativos comerciais, aplicativos para celulares e muitos outros segmentos.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4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imes New Roman"/>
              <a:buNone/>
            </a:pPr>
            <a:r>
              <a:rPr lang="pt-BR" sz="5400">
                <a:latin typeface="Times New Roman"/>
                <a:ea typeface="Times New Roman"/>
                <a:cs typeface="Times New Roman"/>
                <a:sym typeface="Times New Roman"/>
              </a:rPr>
              <a:t>Boas Práticas</a:t>
            </a:r>
            <a:endParaRPr/>
          </a:p>
        </p:txBody>
      </p:sp>
      <p:sp>
        <p:nvSpPr>
          <p:cNvPr id="180" name="Google Shape;180;p24"/>
          <p:cNvSpPr txBox="1"/>
          <p:nvPr>
            <p:ph idx="1" type="body"/>
          </p:nvPr>
        </p:nvSpPr>
        <p:spPr>
          <a:xfrm>
            <a:off x="677334" y="1695368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pt-BR" sz="2000">
                <a:latin typeface="Times New Roman"/>
                <a:ea typeface="Times New Roman"/>
                <a:cs typeface="Times New Roman"/>
                <a:sym typeface="Times New Roman"/>
              </a:rPr>
              <a:t>Variáveis e funções devem começar com letra minúscula, por isso é recomendado usar camelCase ou snake_case: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1" name="Google Shape;18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3907" y="2924174"/>
            <a:ext cx="7072806" cy="1888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imes New Roman"/>
              <a:buNone/>
            </a:pPr>
            <a:r>
              <a:rPr lang="pt-BR" sz="5400">
                <a:latin typeface="Times New Roman"/>
                <a:ea typeface="Times New Roman"/>
                <a:cs typeface="Times New Roman"/>
                <a:sym typeface="Times New Roman"/>
              </a:rPr>
              <a:t>Boas Práticas</a:t>
            </a:r>
            <a:endParaRPr/>
          </a:p>
        </p:txBody>
      </p:sp>
      <p:sp>
        <p:nvSpPr>
          <p:cNvPr id="187" name="Google Shape;187;p25"/>
          <p:cNvSpPr txBox="1"/>
          <p:nvPr>
            <p:ph idx="1" type="body"/>
          </p:nvPr>
        </p:nvSpPr>
        <p:spPr>
          <a:xfrm>
            <a:off x="677334" y="1693151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pt-BR" sz="2000">
                <a:latin typeface="Times New Roman"/>
                <a:ea typeface="Times New Roman"/>
                <a:cs typeface="Times New Roman"/>
                <a:sym typeface="Times New Roman"/>
              </a:rPr>
              <a:t>Constantes devem ser declaradas em letra maiúscula: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8" name="Google Shape;18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8687" y="2265195"/>
            <a:ext cx="8711720" cy="959268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5"/>
          <p:cNvSpPr txBox="1"/>
          <p:nvPr/>
        </p:nvSpPr>
        <p:spPr>
          <a:xfrm>
            <a:off x="677334" y="3415884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►"/>
            </a:pPr>
            <a:r>
              <a:rPr b="0" i="0" lang="pt-BR" sz="20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Nomes de classes devem começar com letra maiúscula e de preferência seguir o padrão PascalCase:</a:t>
            </a:r>
            <a:endParaRPr/>
          </a:p>
          <a:p>
            <a:pPr indent="-2413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0" name="Google Shape;19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8687" y="4409909"/>
            <a:ext cx="6571625" cy="1166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6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imes New Roman"/>
              <a:buNone/>
            </a:pPr>
            <a:r>
              <a:rPr lang="pt-BR" sz="5400">
                <a:latin typeface="Times New Roman"/>
                <a:ea typeface="Times New Roman"/>
                <a:cs typeface="Times New Roman"/>
                <a:sym typeface="Times New Roman"/>
              </a:rPr>
              <a:t>Boas Práticas</a:t>
            </a:r>
            <a:endParaRPr/>
          </a:p>
        </p:txBody>
      </p:sp>
      <p:sp>
        <p:nvSpPr>
          <p:cNvPr id="196" name="Google Shape;196;p26"/>
          <p:cNvSpPr txBox="1"/>
          <p:nvPr>
            <p:ph idx="1" type="body"/>
          </p:nvPr>
        </p:nvSpPr>
        <p:spPr>
          <a:xfrm>
            <a:off x="677334" y="1695368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pt-BR" sz="2000">
                <a:latin typeface="Times New Roman"/>
                <a:ea typeface="Times New Roman"/>
                <a:cs typeface="Times New Roman"/>
                <a:sym typeface="Times New Roman"/>
              </a:rPr>
              <a:t>Ao fazer blocos de comentários, utilize // ao invés de /* */</a:t>
            </a:r>
            <a:endParaRPr/>
          </a:p>
        </p:txBody>
      </p:sp>
      <p:pic>
        <p:nvPicPr>
          <p:cNvPr id="197" name="Google Shape;19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7334" y="2358189"/>
            <a:ext cx="4305188" cy="3753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75668" y="2358189"/>
            <a:ext cx="3555526" cy="37538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7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imes New Roman"/>
              <a:buNone/>
            </a:pPr>
            <a:r>
              <a:rPr lang="pt-BR" sz="5400">
                <a:latin typeface="Times New Roman"/>
                <a:ea typeface="Times New Roman"/>
                <a:cs typeface="Times New Roman"/>
                <a:sym typeface="Times New Roman"/>
              </a:rPr>
              <a:t>Boas Práticas</a:t>
            </a:r>
            <a:endParaRPr/>
          </a:p>
        </p:txBody>
      </p:sp>
      <p:sp>
        <p:nvSpPr>
          <p:cNvPr id="204" name="Google Shape;204;p27"/>
          <p:cNvSpPr txBox="1"/>
          <p:nvPr>
            <p:ph idx="1" type="body"/>
          </p:nvPr>
        </p:nvSpPr>
        <p:spPr>
          <a:xfrm>
            <a:off x="677334" y="1695368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pt-BR" sz="2000">
                <a:latin typeface="Times New Roman"/>
                <a:ea typeface="Times New Roman"/>
                <a:cs typeface="Times New Roman"/>
                <a:sym typeface="Times New Roman"/>
              </a:rPr>
              <a:t>Evite utilizar números que possam ser substituidos por constantes no código, por exemplo:</a:t>
            </a:r>
            <a:endParaRPr/>
          </a:p>
        </p:txBody>
      </p:sp>
      <p:pic>
        <p:nvPicPr>
          <p:cNvPr id="205" name="Google Shape;20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7333" y="2709862"/>
            <a:ext cx="8655783" cy="2866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imes New Roman"/>
              <a:buNone/>
            </a:pPr>
            <a:r>
              <a:rPr lang="pt-BR" sz="5400">
                <a:latin typeface="Times New Roman"/>
                <a:ea typeface="Times New Roman"/>
                <a:cs typeface="Times New Roman"/>
                <a:sym typeface="Times New Roman"/>
              </a:rPr>
              <a:t>Boas Práticas</a:t>
            </a:r>
            <a:endParaRPr/>
          </a:p>
        </p:txBody>
      </p:sp>
      <p:sp>
        <p:nvSpPr>
          <p:cNvPr id="211" name="Google Shape;211;p28"/>
          <p:cNvSpPr txBox="1"/>
          <p:nvPr>
            <p:ph idx="1" type="body"/>
          </p:nvPr>
        </p:nvSpPr>
        <p:spPr>
          <a:xfrm>
            <a:off x="677334" y="1695368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pt-BR" sz="2000">
                <a:latin typeface="Times New Roman"/>
                <a:ea typeface="Times New Roman"/>
                <a:cs typeface="Times New Roman"/>
                <a:sym typeface="Times New Roman"/>
              </a:rPr>
              <a:t>Utilize aspas duplas para incluir arquivos locais.</a:t>
            </a:r>
            <a:endParaRPr/>
          </a:p>
        </p:txBody>
      </p:sp>
      <p:pic>
        <p:nvPicPr>
          <p:cNvPr id="212" name="Google Shape;21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7334" y="2566235"/>
            <a:ext cx="8921523" cy="147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9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imes New Roman"/>
              <a:buNone/>
            </a:pPr>
            <a:r>
              <a:rPr lang="pt-BR" sz="5400">
                <a:latin typeface="Times New Roman"/>
                <a:ea typeface="Times New Roman"/>
                <a:cs typeface="Times New Roman"/>
                <a:sym typeface="Times New Roman"/>
              </a:rPr>
              <a:t>Boas Práticas</a:t>
            </a:r>
            <a:endParaRPr/>
          </a:p>
        </p:txBody>
      </p:sp>
      <p:sp>
        <p:nvSpPr>
          <p:cNvPr id="218" name="Google Shape;218;p29"/>
          <p:cNvSpPr txBox="1"/>
          <p:nvPr>
            <p:ph idx="1" type="body"/>
          </p:nvPr>
        </p:nvSpPr>
        <p:spPr>
          <a:xfrm>
            <a:off x="677334" y="1695368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pt-BR" sz="2000">
                <a:latin typeface="Times New Roman"/>
                <a:ea typeface="Times New Roman"/>
                <a:cs typeface="Times New Roman"/>
                <a:sym typeface="Times New Roman"/>
              </a:rPr>
              <a:t>Utilize espaços em branco para melhor visualização</a:t>
            </a:r>
            <a:endParaRPr/>
          </a:p>
        </p:txBody>
      </p:sp>
      <p:pic>
        <p:nvPicPr>
          <p:cNvPr id="219" name="Google Shape;21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7334" y="2354350"/>
            <a:ext cx="8947929" cy="18036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0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imes New Roman"/>
              <a:buNone/>
            </a:pPr>
            <a:r>
              <a:rPr lang="pt-BR" sz="5400">
                <a:latin typeface="Times New Roman"/>
                <a:ea typeface="Times New Roman"/>
                <a:cs typeface="Times New Roman"/>
                <a:sym typeface="Times New Roman"/>
              </a:rPr>
              <a:t>Boas Práticas</a:t>
            </a:r>
            <a:endParaRPr/>
          </a:p>
        </p:txBody>
      </p:sp>
      <p:sp>
        <p:nvSpPr>
          <p:cNvPr id="225" name="Google Shape;225;p30"/>
          <p:cNvSpPr txBox="1"/>
          <p:nvPr>
            <p:ph idx="1" type="body"/>
          </p:nvPr>
        </p:nvSpPr>
        <p:spPr>
          <a:xfrm>
            <a:off x="677334" y="1695368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pt-BR" sz="2000">
                <a:latin typeface="Times New Roman"/>
                <a:ea typeface="Times New Roman"/>
                <a:cs typeface="Times New Roman"/>
                <a:sym typeface="Times New Roman"/>
              </a:rPr>
              <a:t>Sempre utilize chaves, mesmo que o bloco só tenha uma linha.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pt-BR" sz="2000">
                <a:latin typeface="Times New Roman"/>
                <a:ea typeface="Times New Roman"/>
                <a:cs typeface="Times New Roman"/>
                <a:sym typeface="Times New Roman"/>
              </a:rPr>
              <a:t>Se a linha de código estiver muito grande, vale a pena quebrá-la em múltiplas linhas.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1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pt-BR"/>
              <a:t>Hello World!</a:t>
            </a:r>
            <a:endParaRPr/>
          </a:p>
        </p:txBody>
      </p:sp>
      <p:pic>
        <p:nvPicPr>
          <p:cNvPr id="231" name="Google Shape;231;p3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7333" y="1930400"/>
            <a:ext cx="8257439" cy="3684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2"/>
          <p:cNvSpPr txBox="1"/>
          <p:nvPr>
            <p:ph type="title"/>
          </p:nvPr>
        </p:nvSpPr>
        <p:spPr>
          <a:xfrm>
            <a:off x="677334" y="609600"/>
            <a:ext cx="8596800" cy="132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Hello World!</a:t>
            </a:r>
            <a:endParaRPr/>
          </a:p>
        </p:txBody>
      </p:sp>
      <p:sp>
        <p:nvSpPr>
          <p:cNvPr id="237" name="Google Shape;237;p32"/>
          <p:cNvSpPr txBox="1"/>
          <p:nvPr>
            <p:ph idx="1" type="body"/>
          </p:nvPr>
        </p:nvSpPr>
        <p:spPr>
          <a:xfrm>
            <a:off x="677325" y="1624277"/>
            <a:ext cx="8596800" cy="441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500">
                <a:solidFill>
                  <a:srgbClr val="4A86E8"/>
                </a:solidFill>
              </a:rPr>
              <a:t>#include</a:t>
            </a:r>
            <a:r>
              <a:rPr lang="pt-BR" sz="2500"/>
              <a:t> </a:t>
            </a:r>
            <a:r>
              <a:rPr lang="pt-BR" sz="2500">
                <a:solidFill>
                  <a:srgbClr val="B45F06"/>
                </a:solidFill>
              </a:rPr>
              <a:t>&lt;iostream&gt;</a:t>
            </a:r>
            <a:endParaRPr sz="2500">
              <a:solidFill>
                <a:srgbClr val="B45F0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500">
                <a:solidFill>
                  <a:srgbClr val="4A86E8"/>
                </a:solidFill>
              </a:rPr>
              <a:t>int</a:t>
            </a:r>
            <a:r>
              <a:rPr lang="pt-BR" sz="2500"/>
              <a:t> </a:t>
            </a:r>
            <a:r>
              <a:rPr lang="pt-BR" sz="2500">
                <a:solidFill>
                  <a:srgbClr val="7F6000"/>
                </a:solidFill>
              </a:rPr>
              <a:t>main()</a:t>
            </a:r>
            <a:r>
              <a:rPr lang="pt-BR" sz="2500"/>
              <a:t> {</a:t>
            </a:r>
            <a:endParaRPr sz="2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500"/>
              <a:t>  </a:t>
            </a:r>
            <a:r>
              <a:rPr lang="pt-BR" sz="2500">
                <a:solidFill>
                  <a:srgbClr val="4A86E8"/>
                </a:solidFill>
              </a:rPr>
              <a:t>std</a:t>
            </a:r>
            <a:r>
              <a:rPr lang="pt-BR" sz="2500"/>
              <a:t>::cout &lt;&lt;</a:t>
            </a:r>
            <a:r>
              <a:rPr lang="pt-BR" sz="2500">
                <a:solidFill>
                  <a:srgbClr val="B45F06"/>
                </a:solidFill>
              </a:rPr>
              <a:t> "Hello World!\n"</a:t>
            </a:r>
            <a:r>
              <a:rPr lang="pt-BR" sz="2500">
                <a:solidFill>
                  <a:schemeClr val="dk1"/>
                </a:solidFill>
              </a:rPr>
              <a:t>;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500">
                <a:solidFill>
                  <a:schemeClr val="dk1"/>
                </a:solidFill>
              </a:rPr>
              <a:t>}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7400" y="3808000"/>
            <a:ext cx="5655349" cy="250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3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244" name="Google Shape;244;p33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pt-BR"/>
              <a:t>Google C++ Style Guide: https://google.github.io/styleguide/cppguide.html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pt-BR"/>
              <a:t>10 most voted C++ best practices: http://codergears.com/Blog/?p=1957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pt-BR"/>
              <a:t>Guia Rápido de Boas Práticas em C++: https://github.com/kelvins/Boas-Praticas-Cplusplus.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pt-BR"/>
              <a:t>Entenda as diferenças entre C e C++: https://itstep.com.br/blog/understand-the-differences-between-c-and-c.</a:t>
            </a:r>
            <a:endParaRPr/>
          </a:p>
          <a:p>
            <a:pPr indent="-251459" lvl="0" marL="34290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acetado">
  <a:themeElements>
    <a:clrScheme name="Facetado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